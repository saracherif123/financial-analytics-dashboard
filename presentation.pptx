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41" d="100"/>
          <a:sy n="141" d="100"/>
        </p:scale>
        <p:origin x="-34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77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7947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3200" dirty="0">
                <a:solidFill>
                  <a:srgbClr val="FF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32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Finance, Visualized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53859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Challenges        &amp;        Research Questions</a:t>
            </a:r>
            <a:endParaRPr lang="en-US" sz="24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29215" y="398301"/>
            <a:ext cx="45719" cy="731520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30352" y="1361551"/>
            <a:ext cx="2871819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804672" y="1498711"/>
            <a:ext cx="264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818751"/>
            <a:ext cx="264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purchases, no clear picture of where money goes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2458831"/>
            <a:ext cx="2871819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04672" y="2595991"/>
            <a:ext cx="264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Blindness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916031"/>
            <a:ext cx="264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if you're overspending without manual calculations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3556111"/>
            <a:ext cx="2871819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804672" y="3693271"/>
            <a:ext cx="264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4013311"/>
            <a:ext cx="264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identify patterns or peak spending times across locations</a:t>
            </a:r>
            <a:endParaRPr lang="en-US" sz="105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390D1CE-74BF-40B9-47FB-E0CC1ECD1253}"/>
              </a:ext>
            </a:extLst>
          </p:cNvPr>
          <p:cNvSpPr/>
          <p:nvPr/>
        </p:nvSpPr>
        <p:spPr>
          <a:xfrm>
            <a:off x="3877659" y="1387677"/>
            <a:ext cx="4954842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AD4490FC-1472-EA8E-3B88-6B6DED710A06}"/>
              </a:ext>
            </a:extLst>
          </p:cNvPr>
          <p:cNvSpPr/>
          <p:nvPr/>
        </p:nvSpPr>
        <p:spPr>
          <a:xfrm>
            <a:off x="4060539" y="1616277"/>
            <a:ext cx="294931" cy="45720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5C85097A-8F76-5E25-B4EA-963FB276A664}"/>
              </a:ext>
            </a:extLst>
          </p:cNvPr>
          <p:cNvSpPr/>
          <p:nvPr/>
        </p:nvSpPr>
        <p:spPr>
          <a:xfrm>
            <a:off x="4060539" y="1616277"/>
            <a:ext cx="294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07867DD-6D02-1535-6061-B57AE5C023DA}"/>
              </a:ext>
            </a:extLst>
          </p:cNvPr>
          <p:cNvSpPr/>
          <p:nvPr/>
        </p:nvSpPr>
        <p:spPr>
          <a:xfrm>
            <a:off x="4700619" y="1524837"/>
            <a:ext cx="4305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can I understand my financial health?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E78D4006-4EA9-2262-BFC8-4F51B207736F}"/>
              </a:ext>
            </a:extLst>
          </p:cNvPr>
          <p:cNvSpPr/>
          <p:nvPr/>
        </p:nvSpPr>
        <p:spPr>
          <a:xfrm>
            <a:off x="4700619" y="1890597"/>
            <a:ext cx="4305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Balance trends • Savings rate • Budget adherence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51ED72AB-A435-DB9D-DA23-CA31ACC86F5C}"/>
              </a:ext>
            </a:extLst>
          </p:cNvPr>
          <p:cNvSpPr/>
          <p:nvPr/>
        </p:nvSpPr>
        <p:spPr>
          <a:xfrm>
            <a:off x="3877659" y="2439237"/>
            <a:ext cx="4954842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443B40AD-1F8D-A5C4-44AB-A4942714F1CF}"/>
              </a:ext>
            </a:extLst>
          </p:cNvPr>
          <p:cNvSpPr/>
          <p:nvPr/>
        </p:nvSpPr>
        <p:spPr>
          <a:xfrm>
            <a:off x="4060539" y="2667837"/>
            <a:ext cx="294931" cy="45720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196B8D01-B40E-89E4-0EC0-9A27C2F073DD}"/>
              </a:ext>
            </a:extLst>
          </p:cNvPr>
          <p:cNvSpPr/>
          <p:nvPr/>
        </p:nvSpPr>
        <p:spPr>
          <a:xfrm>
            <a:off x="4060539" y="2667837"/>
            <a:ext cx="294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9B4889B8-D3EC-EE09-6E37-9DCFC8F1A8F4}"/>
              </a:ext>
            </a:extLst>
          </p:cNvPr>
          <p:cNvSpPr/>
          <p:nvPr/>
        </p:nvSpPr>
        <p:spPr>
          <a:xfrm>
            <a:off x="4700619" y="2576397"/>
            <a:ext cx="4305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When and where do I spend the most?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C7CC40EE-A994-2DEA-6AE7-9E1583695065}"/>
              </a:ext>
            </a:extLst>
          </p:cNvPr>
          <p:cNvSpPr/>
          <p:nvPr/>
        </p:nvSpPr>
        <p:spPr>
          <a:xfrm>
            <a:off x="4700619" y="2942157"/>
            <a:ext cx="4305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 • Geographic variations • Category breakdowns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4CCEBB23-080C-13CD-02A2-DFC2ADC7B6EE}"/>
              </a:ext>
            </a:extLst>
          </p:cNvPr>
          <p:cNvSpPr/>
          <p:nvPr/>
        </p:nvSpPr>
        <p:spPr>
          <a:xfrm>
            <a:off x="3877659" y="3490797"/>
            <a:ext cx="4954842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165F601A-F908-A64E-7746-B609C27072F1}"/>
              </a:ext>
            </a:extLst>
          </p:cNvPr>
          <p:cNvSpPr/>
          <p:nvPr/>
        </p:nvSpPr>
        <p:spPr>
          <a:xfrm>
            <a:off x="4060539" y="3719397"/>
            <a:ext cx="294931" cy="45720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4FA94632-84FB-4837-D3AA-048B7F0AE625}"/>
              </a:ext>
            </a:extLst>
          </p:cNvPr>
          <p:cNvSpPr/>
          <p:nvPr/>
        </p:nvSpPr>
        <p:spPr>
          <a:xfrm>
            <a:off x="4060539" y="3719397"/>
            <a:ext cx="294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943AB99E-C6DA-7B5C-E00F-D7E986F3B5E7}"/>
              </a:ext>
            </a:extLst>
          </p:cNvPr>
          <p:cNvSpPr/>
          <p:nvPr/>
        </p:nvSpPr>
        <p:spPr>
          <a:xfrm>
            <a:off x="4700619" y="3627957"/>
            <a:ext cx="4305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can visualizations improve financial awareness?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1B1D7706-D66C-3649-9E06-D26574D98A95}"/>
              </a:ext>
            </a:extLst>
          </p:cNvPr>
          <p:cNvSpPr/>
          <p:nvPr/>
        </p:nvSpPr>
        <p:spPr>
          <a:xfrm>
            <a:off x="4700619" y="3993717"/>
            <a:ext cx="4305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• Actionable insights • Data-driven decisions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318" y="68253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31166" y="682534"/>
            <a:ext cx="73152" cy="731520"/>
          </a:xfrm>
          <a:prstGeom prst="rect">
            <a:avLst/>
          </a:prstGeom>
          <a:solidFill>
            <a:srgbClr val="00F5FF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bank transactions into actionable insights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filtering by date, category, type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pattern recognition via heatmaps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spending across 4 countries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advisor chatbot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029200" y="2560320"/>
            <a:ext cx="3657600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3749040"/>
            <a:ext cx="3657600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4297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Tracked</a:t>
            </a:r>
            <a:endParaRPr lang="en-US" sz="12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F5AC6CE6-5C21-33B7-4D37-04AB5C26300B}"/>
              </a:ext>
            </a:extLst>
          </p:cNvPr>
          <p:cNvSpPr/>
          <p:nvPr/>
        </p:nvSpPr>
        <p:spPr>
          <a:xfrm>
            <a:off x="5486400" y="141405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2E793DC5-D170-BC0D-516F-D7CF700A06C2}"/>
              </a:ext>
            </a:extLst>
          </p:cNvPr>
          <p:cNvSpPr/>
          <p:nvPr/>
        </p:nvSpPr>
        <p:spPr>
          <a:xfrm>
            <a:off x="5486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4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D0A9A5F4-40AF-8537-9ED9-916E20013AFD}"/>
              </a:ext>
            </a:extLst>
          </p:cNvPr>
          <p:cNvSpPr/>
          <p:nvPr/>
        </p:nvSpPr>
        <p:spPr>
          <a:xfrm>
            <a:off x="5486400" y="261713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€24,343</a:t>
            </a:r>
            <a:endParaRPr lang="en-US" sz="36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3E999E3-0FCD-1D0F-14EB-BA28866F7701}"/>
              </a:ext>
            </a:extLst>
          </p:cNvPr>
          <p:cNvSpPr/>
          <p:nvPr/>
        </p:nvSpPr>
        <p:spPr>
          <a:xfrm>
            <a:off x="5486400" y="313736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Tracked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7254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Methodology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731520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Following Munzner's Nested Model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011680" cy="22860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34440" y="1874520"/>
            <a:ext cx="457200" cy="457200"/>
          </a:xfrm>
          <a:prstGeom prst="ellipse">
            <a:avLst/>
          </a:prstGeom>
          <a:solidFill>
            <a:srgbClr val="00F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Domain Problem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management for international students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2011680" cy="22860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457200" cy="457200"/>
          </a:xfrm>
          <a:prstGeom prst="ellipse">
            <a:avLst/>
          </a:prstGeom>
          <a:solidFill>
            <a:srgbClr val="00F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Abstraction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Temporal, categorical, quantitative, geographic transaction data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2011680" cy="22860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532120" y="1874520"/>
            <a:ext cx="457200" cy="457200"/>
          </a:xfrm>
          <a:prstGeom prst="ellipse">
            <a:avLst/>
          </a:prstGeom>
          <a:solidFill>
            <a:srgbClr val="00F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321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Visual Encoding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Position (accuracy), color (categories), size (magnitude)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03720" y="1691640"/>
            <a:ext cx="2011680" cy="22860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80960" y="1874520"/>
            <a:ext cx="457200" cy="457200"/>
          </a:xfrm>
          <a:prstGeom prst="ellipse">
            <a:avLst/>
          </a:prstGeom>
          <a:solidFill>
            <a:srgbClr val="00F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0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A0E27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4088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 + Plotly with data caching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Cleveland &amp; McGill: Position &gt; Length &gt; Angle &gt; Area &gt; Color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Smart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73152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Alert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warning when overspending, green when on track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114800" cy="13716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73152" cy="1371600"/>
          </a:xfrm>
          <a:prstGeom prst="rect">
            <a:avLst/>
          </a:prstGeom>
          <a:solidFill>
            <a:srgbClr val="00F5FF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0749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 Navigation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Spending, Locations, Transactions, AI Advisor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Heatmaps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× Hour patterns reveal spending habits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3716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73152" cy="1371600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50749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Explorer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filterable, downloadable CSV export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925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Best Practices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731520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Design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Munzner's Nested Model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encoding for accuracy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&amp; McGill principles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color mapping (cyan=income, magenta=expense)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78181" y="13258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 Stack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 for rapid development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for interactive visualizations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caching for performance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&amp; accessible design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visualizations across 6 interactive tabs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926" y="38661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731520"/>
          </a:xfrm>
          <a:prstGeom prst="rect">
            <a:avLst/>
          </a:prstGeom>
          <a:solidFill>
            <a:srgbClr val="00F5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685800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 Discovered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0" y="1353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Peak spending: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12-2 PM &amp; 6-8 PM (meal times)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Method: Day × Hour heatmap visualization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6858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73152" cy="685800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157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Geographic Cost Variations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0" y="21579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Spain has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lowest average expenses vs Belgium, Germany, France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Method: Location-based comparative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6858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73152" cy="6858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29626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Category Insights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0" y="29626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 =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largest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category (€625 max single expense)</a:t>
            </a:r>
          </a:p>
        </p:txBody>
      </p:sp>
      <p:sp>
        <p:nvSpPr>
          <p:cNvPr id="18" name="Text 16"/>
          <p:cNvSpPr/>
          <p:nvPr/>
        </p:nvSpPr>
        <p:spPr>
          <a:xfrm>
            <a:off x="731520" y="330098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Method: Treemap and pie chart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8229600" cy="685800"/>
          </a:xfrm>
          <a:prstGeom prst="rect">
            <a:avLst/>
          </a:prstGeom>
          <a:solidFill>
            <a:srgbClr val="1A1F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73152" cy="6858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767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Budget Awareness Improved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23040" y="391765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F5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alert: </a:t>
            </a: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101.3% (exceeded) vs </a:t>
            </a:r>
            <a:r>
              <a:rPr lang="en-US" sz="1100" b="1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 track</a:t>
            </a:r>
            <a:endParaRPr 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4105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Method: Real-time budget monitoring with color 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859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 Your Finances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2800" i="1" dirty="0">
                <a:solidFill>
                  <a:srgbClr val="FF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</a:t>
            </a: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2800" i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</a:t>
            </a: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2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financial clarity for smarter decisions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441</Words>
  <Application>Microsoft Macintosh PowerPoint</Application>
  <PresentationFormat>On-screen Show (16:9)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Analytics Dashboard</dc:title>
  <dc:subject>PptxGenJS Presentation</dc:subject>
  <dc:creator>Financial Dashboard</dc:creator>
  <cp:lastModifiedBy>sara saad</cp:lastModifiedBy>
  <cp:revision>2</cp:revision>
  <dcterms:created xsi:type="dcterms:W3CDTF">2026-02-06T00:38:20Z</dcterms:created>
  <dcterms:modified xsi:type="dcterms:W3CDTF">2026-02-06T01:02:19Z</dcterms:modified>
</cp:coreProperties>
</file>